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y="6858000" cx="12192000"/>
  <p:notesSz cx="7053250" cy="9309100"/>
  <p:embeddedFontLst>
    <p:embeddedFont>
      <p:font typeface="Century Gothic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gJtuBJeB67g6nW2Z7qTAssBOKJ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8D30D0-A039-453F-B28D-537FD1C3BDF9}">
  <a:tblStyle styleId="{598D30D0-A039-453F-B28D-537FD1C3BDF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CenturyGothic-regular.fntdata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CenturyGothic-italic.fntdata"/><Relationship Id="rId14" Type="http://schemas.openxmlformats.org/officeDocument/2006/relationships/slide" Target="slides/slide7.xml"/><Relationship Id="rId36" Type="http://schemas.openxmlformats.org/officeDocument/2006/relationships/font" Target="fonts/CenturyGothic-bold.fntdata"/><Relationship Id="rId17" Type="http://schemas.openxmlformats.org/officeDocument/2006/relationships/slide" Target="slides/slide10.xml"/><Relationship Id="rId39" Type="http://customschemas.google.com/relationships/presentationmetadata" Target="metadata"/><Relationship Id="rId16" Type="http://schemas.openxmlformats.org/officeDocument/2006/relationships/slide" Target="slides/slide9.xml"/><Relationship Id="rId38" Type="http://schemas.openxmlformats.org/officeDocument/2006/relationships/font" Target="fonts/CenturyGothic-bold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56414" cy="465455"/>
          </a:xfrm>
          <a:prstGeom prst="rect">
            <a:avLst/>
          </a:prstGeom>
          <a:noFill/>
          <a:ln>
            <a:noFill/>
          </a:ln>
        </p:spPr>
        <p:txBody>
          <a:bodyPr anchorCtr="0" anchor="t" bIns="46725" lIns="93475" spcFirstLastPara="1" rIns="93475" wrap="square" tIns="467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95217" y="0"/>
            <a:ext cx="3056414" cy="465455"/>
          </a:xfrm>
          <a:prstGeom prst="rect">
            <a:avLst/>
          </a:prstGeom>
          <a:noFill/>
          <a:ln>
            <a:noFill/>
          </a:ln>
        </p:spPr>
        <p:txBody>
          <a:bodyPr anchorCtr="0" anchor="t" bIns="46725" lIns="93475" spcFirstLastPara="1" rIns="93475" wrap="square" tIns="467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25450" y="698500"/>
            <a:ext cx="6203950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  <a:noFill/>
          <a:ln>
            <a:noFill/>
          </a:ln>
        </p:spPr>
        <p:txBody>
          <a:bodyPr anchorCtr="0" anchor="t" bIns="46725" lIns="93475" spcFirstLastPara="1" rIns="93475" wrap="square" tIns="4672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42029"/>
            <a:ext cx="3056414" cy="465455"/>
          </a:xfrm>
          <a:prstGeom prst="rect">
            <a:avLst/>
          </a:prstGeom>
          <a:noFill/>
          <a:ln>
            <a:noFill/>
          </a:ln>
        </p:spPr>
        <p:txBody>
          <a:bodyPr anchorCtr="0" anchor="b" bIns="46725" lIns="93475" spcFirstLastPara="1" rIns="93475" wrap="square" tIns="467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95217" y="8842029"/>
            <a:ext cx="3056414" cy="465455"/>
          </a:xfrm>
          <a:prstGeom prst="rect">
            <a:avLst/>
          </a:prstGeom>
          <a:noFill/>
          <a:ln>
            <a:noFill/>
          </a:ln>
        </p:spPr>
        <p:txBody>
          <a:bodyPr anchorCtr="0" anchor="b" bIns="46725" lIns="93475" spcFirstLastPara="1" rIns="93475" wrap="square" tIns="467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425450" y="698500"/>
            <a:ext cx="6203950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95da297051_0_29:notes"/>
          <p:cNvSpPr/>
          <p:nvPr>
            <p:ph idx="2" type="sldImg"/>
          </p:nvPr>
        </p:nvSpPr>
        <p:spPr>
          <a:xfrm>
            <a:off x="425450" y="698500"/>
            <a:ext cx="6203950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195da297051_0_29:notes"/>
          <p:cNvSpPr txBox="1"/>
          <p:nvPr>
            <p:ph idx="1" type="body"/>
          </p:nvPr>
        </p:nvSpPr>
        <p:spPr>
          <a:xfrm>
            <a:off x="705327" y="4421823"/>
            <a:ext cx="5642700" cy="41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g195da297051_0_29:notes"/>
          <p:cNvSpPr txBox="1"/>
          <p:nvPr>
            <p:ph idx="12" type="sldNum"/>
          </p:nvPr>
        </p:nvSpPr>
        <p:spPr>
          <a:xfrm>
            <a:off x="3995217" y="8842029"/>
            <a:ext cx="30564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25" lIns="93475" spcFirstLastPara="1" rIns="93475" wrap="square" tIns="467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425450" y="698500"/>
            <a:ext cx="6203950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425450" y="698500"/>
            <a:ext cx="6203950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:notes"/>
          <p:cNvSpPr/>
          <p:nvPr>
            <p:ph idx="2" type="sldImg"/>
          </p:nvPr>
        </p:nvSpPr>
        <p:spPr>
          <a:xfrm>
            <a:off x="425450" y="698500"/>
            <a:ext cx="6203950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425450" y="698500"/>
            <a:ext cx="6203950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425450" y="698500"/>
            <a:ext cx="6203950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 txBox="1"/>
          <p:nvPr>
            <p:ph idx="1" type="body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2:notes"/>
          <p:cNvSpPr/>
          <p:nvPr>
            <p:ph idx="2" type="sldImg"/>
          </p:nvPr>
        </p:nvSpPr>
        <p:spPr>
          <a:xfrm>
            <a:off x="425450" y="698500"/>
            <a:ext cx="6203950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 txBox="1"/>
          <p:nvPr>
            <p:ph idx="1" type="body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3:notes"/>
          <p:cNvSpPr/>
          <p:nvPr>
            <p:ph idx="2" type="sldImg"/>
          </p:nvPr>
        </p:nvSpPr>
        <p:spPr>
          <a:xfrm>
            <a:off x="425450" y="698500"/>
            <a:ext cx="6203950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:notes"/>
          <p:cNvSpPr txBox="1"/>
          <p:nvPr>
            <p:ph idx="1" type="body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4:notes"/>
          <p:cNvSpPr/>
          <p:nvPr>
            <p:ph idx="2" type="sldImg"/>
          </p:nvPr>
        </p:nvSpPr>
        <p:spPr>
          <a:xfrm>
            <a:off x="425450" y="698500"/>
            <a:ext cx="6203950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:notes"/>
          <p:cNvSpPr txBox="1"/>
          <p:nvPr>
            <p:ph idx="1" type="body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5:notes"/>
          <p:cNvSpPr/>
          <p:nvPr>
            <p:ph idx="2" type="sldImg"/>
          </p:nvPr>
        </p:nvSpPr>
        <p:spPr>
          <a:xfrm>
            <a:off x="425450" y="698500"/>
            <a:ext cx="6203950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:notes"/>
          <p:cNvSpPr txBox="1"/>
          <p:nvPr>
            <p:ph idx="1" type="body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6:notes"/>
          <p:cNvSpPr/>
          <p:nvPr>
            <p:ph idx="2" type="sldImg"/>
          </p:nvPr>
        </p:nvSpPr>
        <p:spPr>
          <a:xfrm>
            <a:off x="425450" y="698500"/>
            <a:ext cx="6203950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:notes"/>
          <p:cNvSpPr txBox="1"/>
          <p:nvPr>
            <p:ph idx="1" type="body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7:notes"/>
          <p:cNvSpPr/>
          <p:nvPr>
            <p:ph idx="2" type="sldImg"/>
          </p:nvPr>
        </p:nvSpPr>
        <p:spPr>
          <a:xfrm>
            <a:off x="425450" y="698500"/>
            <a:ext cx="6203950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:notes"/>
          <p:cNvSpPr txBox="1"/>
          <p:nvPr>
            <p:ph idx="1" type="body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:notes"/>
          <p:cNvSpPr/>
          <p:nvPr>
            <p:ph idx="2" type="sldImg"/>
          </p:nvPr>
        </p:nvSpPr>
        <p:spPr>
          <a:xfrm>
            <a:off x="425450" y="698500"/>
            <a:ext cx="6203950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:notes"/>
          <p:cNvSpPr txBox="1"/>
          <p:nvPr>
            <p:ph idx="1" type="body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9:notes"/>
          <p:cNvSpPr/>
          <p:nvPr>
            <p:ph idx="2" type="sldImg"/>
          </p:nvPr>
        </p:nvSpPr>
        <p:spPr>
          <a:xfrm>
            <a:off x="425450" y="698500"/>
            <a:ext cx="6203950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:notes"/>
          <p:cNvSpPr txBox="1"/>
          <p:nvPr>
            <p:ph idx="1" type="body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:notes"/>
          <p:cNvSpPr/>
          <p:nvPr>
            <p:ph idx="2" type="sldImg"/>
          </p:nvPr>
        </p:nvSpPr>
        <p:spPr>
          <a:xfrm>
            <a:off x="425450" y="698500"/>
            <a:ext cx="6203950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:notes"/>
          <p:cNvSpPr txBox="1"/>
          <p:nvPr>
            <p:ph idx="1" type="body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1:notes"/>
          <p:cNvSpPr/>
          <p:nvPr>
            <p:ph idx="2" type="sldImg"/>
          </p:nvPr>
        </p:nvSpPr>
        <p:spPr>
          <a:xfrm>
            <a:off x="425450" y="698500"/>
            <a:ext cx="6203950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:notes"/>
          <p:cNvSpPr txBox="1"/>
          <p:nvPr>
            <p:ph idx="1" type="body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2:notes"/>
          <p:cNvSpPr/>
          <p:nvPr>
            <p:ph idx="2" type="sldImg"/>
          </p:nvPr>
        </p:nvSpPr>
        <p:spPr>
          <a:xfrm>
            <a:off x="425450" y="698500"/>
            <a:ext cx="6203950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:notes"/>
          <p:cNvSpPr txBox="1"/>
          <p:nvPr>
            <p:ph idx="1" type="body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3:notes"/>
          <p:cNvSpPr/>
          <p:nvPr>
            <p:ph idx="2" type="sldImg"/>
          </p:nvPr>
        </p:nvSpPr>
        <p:spPr>
          <a:xfrm>
            <a:off x="425450" y="698500"/>
            <a:ext cx="6203950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4:notes"/>
          <p:cNvSpPr txBox="1"/>
          <p:nvPr>
            <p:ph idx="1" type="body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4:notes"/>
          <p:cNvSpPr/>
          <p:nvPr>
            <p:ph idx="2" type="sldImg"/>
          </p:nvPr>
        </p:nvSpPr>
        <p:spPr>
          <a:xfrm>
            <a:off x="425450" y="698500"/>
            <a:ext cx="6203950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5:notes"/>
          <p:cNvSpPr txBox="1"/>
          <p:nvPr>
            <p:ph idx="1" type="body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5:notes"/>
          <p:cNvSpPr/>
          <p:nvPr>
            <p:ph idx="2" type="sldImg"/>
          </p:nvPr>
        </p:nvSpPr>
        <p:spPr>
          <a:xfrm>
            <a:off x="425450" y="698500"/>
            <a:ext cx="6203950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:notes"/>
          <p:cNvSpPr/>
          <p:nvPr>
            <p:ph idx="2" type="sldImg"/>
          </p:nvPr>
        </p:nvSpPr>
        <p:spPr>
          <a:xfrm>
            <a:off x="425450" y="698500"/>
            <a:ext cx="6203950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26:notes"/>
          <p:cNvSpPr txBox="1"/>
          <p:nvPr>
            <p:ph idx="1" type="body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  <a:noFill/>
          <a:ln>
            <a:noFill/>
          </a:ln>
        </p:spPr>
        <p:txBody>
          <a:bodyPr anchorCtr="0" anchor="t" bIns="46725" lIns="93475" spcFirstLastPara="1" rIns="93475" wrap="square" tIns="46725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p26:notes"/>
          <p:cNvSpPr txBox="1"/>
          <p:nvPr>
            <p:ph idx="12" type="sldNum"/>
          </p:nvPr>
        </p:nvSpPr>
        <p:spPr>
          <a:xfrm>
            <a:off x="3995217" y="8842029"/>
            <a:ext cx="3056414" cy="465455"/>
          </a:xfrm>
          <a:prstGeom prst="rect">
            <a:avLst/>
          </a:prstGeom>
          <a:noFill/>
          <a:ln>
            <a:noFill/>
          </a:ln>
        </p:spPr>
        <p:txBody>
          <a:bodyPr anchorCtr="0" anchor="b" bIns="46725" lIns="93475" spcFirstLastPara="1" rIns="93475" wrap="square" tIns="467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:notes"/>
          <p:cNvSpPr txBox="1"/>
          <p:nvPr>
            <p:ph idx="1" type="body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7:notes"/>
          <p:cNvSpPr/>
          <p:nvPr>
            <p:ph idx="2" type="sldImg"/>
          </p:nvPr>
        </p:nvSpPr>
        <p:spPr>
          <a:xfrm>
            <a:off x="425450" y="698500"/>
            <a:ext cx="6203950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8:notes"/>
          <p:cNvSpPr txBox="1"/>
          <p:nvPr>
            <p:ph idx="1" type="body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8:notes"/>
          <p:cNvSpPr/>
          <p:nvPr>
            <p:ph idx="2" type="sldImg"/>
          </p:nvPr>
        </p:nvSpPr>
        <p:spPr>
          <a:xfrm>
            <a:off x="425450" y="698500"/>
            <a:ext cx="6203950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9:notes"/>
          <p:cNvSpPr txBox="1"/>
          <p:nvPr>
            <p:ph idx="1" type="body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9:notes"/>
          <p:cNvSpPr/>
          <p:nvPr>
            <p:ph idx="2" type="sldImg"/>
          </p:nvPr>
        </p:nvSpPr>
        <p:spPr>
          <a:xfrm>
            <a:off x="425450" y="698500"/>
            <a:ext cx="6203950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0:notes"/>
          <p:cNvSpPr txBox="1"/>
          <p:nvPr>
            <p:ph idx="1" type="body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0:notes"/>
          <p:cNvSpPr/>
          <p:nvPr>
            <p:ph idx="2" type="sldImg"/>
          </p:nvPr>
        </p:nvSpPr>
        <p:spPr>
          <a:xfrm>
            <a:off x="425450" y="698500"/>
            <a:ext cx="6203950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1:notes"/>
          <p:cNvSpPr txBox="1"/>
          <p:nvPr>
            <p:ph idx="1" type="body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1:notes"/>
          <p:cNvSpPr/>
          <p:nvPr>
            <p:ph idx="2" type="sldImg"/>
          </p:nvPr>
        </p:nvSpPr>
        <p:spPr>
          <a:xfrm>
            <a:off x="425450" y="698500"/>
            <a:ext cx="6203950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9" name="Google Shape;29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3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3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3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3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2" name="Google Shape;72;p4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4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image" Target="../media/image25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<Relationship Id="rId6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  <a:defRPr b="0" i="0" sz="4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descr="C:\Users\kushadhar.suvarna\Desktop\NMIMS PPT\PPT format Uni&amp;College-17.jpg" id="15" name="Google Shape;15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5"/>
          <p:cNvPicPr preferRelativeResize="0"/>
          <p:nvPr/>
        </p:nvPicPr>
        <p:blipFill rotWithShape="1">
          <a:blip r:embed="rId2">
            <a:alphaModFix/>
          </a:blip>
          <a:srcRect b="25769" l="42706" r="5529" t="40068"/>
          <a:stretch/>
        </p:blipFill>
        <p:spPr>
          <a:xfrm>
            <a:off x="2400885" y="440479"/>
            <a:ext cx="2365211" cy="433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5628" y="171588"/>
            <a:ext cx="5153025" cy="97155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  <p:pic>
        <p:nvPicPr>
          <p:cNvPr id="18" name="Google Shape;18;p5"/>
          <p:cNvPicPr preferRelativeResize="0"/>
          <p:nvPr/>
        </p:nvPicPr>
        <p:blipFill rotWithShape="1">
          <a:blip r:embed="rId4">
            <a:alphaModFix/>
          </a:blip>
          <a:srcRect b="31651" l="36355" r="4569" t="33190"/>
          <a:stretch/>
        </p:blipFill>
        <p:spPr>
          <a:xfrm>
            <a:off x="1727467" y="409868"/>
            <a:ext cx="3211830" cy="49498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" name="Google Shape;22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3"/>
          <p:cNvGrpSpPr/>
          <p:nvPr/>
        </p:nvGrpSpPr>
        <p:grpSpPr>
          <a:xfrm>
            <a:off x="0" y="2731026"/>
            <a:ext cx="12192000" cy="1703934"/>
            <a:chOff x="0" y="2198590"/>
            <a:chExt cx="12192000" cy="1703934"/>
          </a:xfrm>
        </p:grpSpPr>
        <p:sp>
          <p:nvSpPr>
            <p:cNvPr id="100" name="Google Shape;100;p3"/>
            <p:cNvSpPr txBox="1"/>
            <p:nvPr/>
          </p:nvSpPr>
          <p:spPr>
            <a:xfrm>
              <a:off x="0" y="2198590"/>
              <a:ext cx="12192000" cy="697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4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Product Analytics and Pricing Trends in Flipkart E-Commerce Using DBMS</a:t>
              </a:r>
              <a:endParaRPr b="1" i="0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" name="Google Shape;101;p3"/>
            <p:cNvSpPr txBox="1"/>
            <p:nvPr/>
          </p:nvSpPr>
          <p:spPr>
            <a:xfrm>
              <a:off x="1631950" y="3491601"/>
              <a:ext cx="8928100" cy="410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IN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B.Sc. (Applied Statistics &amp; Analytics)</a:t>
              </a:r>
              <a:endParaRPr b="1" i="1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02" name="Google Shape;102;p3"/>
          <p:cNvSpPr txBox="1"/>
          <p:nvPr/>
        </p:nvSpPr>
        <p:spPr>
          <a:xfrm>
            <a:off x="8751218" y="5158794"/>
            <a:ext cx="306371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Sameer Bhavnani – A024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Khushi Sahni – A040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8751218" y="4829942"/>
            <a:ext cx="296944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Members : </a:t>
            </a:r>
            <a:endParaRPr b="1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641023" y="5126294"/>
            <a:ext cx="279976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Mentor: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Kavita Jain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95da297051_0_29"/>
          <p:cNvSpPr txBox="1"/>
          <p:nvPr>
            <p:ph idx="4294967295" type="title"/>
          </p:nvPr>
        </p:nvSpPr>
        <p:spPr>
          <a:xfrm>
            <a:off x="4757375" y="555950"/>
            <a:ext cx="267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IN" sz="4000">
                <a:latin typeface="Times New Roman"/>
                <a:ea typeface="Times New Roman"/>
                <a:cs typeface="Times New Roman"/>
                <a:sym typeface="Times New Roman"/>
              </a:rPr>
              <a:t>INDEX</a:t>
            </a:r>
            <a:endParaRPr b="1"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1" name="Google Shape;111;g195da297051_0_29"/>
          <p:cNvGraphicFramePr/>
          <p:nvPr/>
        </p:nvGraphicFramePr>
        <p:xfrm>
          <a:off x="538815" y="1696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{598D30D0-A039-453F-B28D-537FD1C3BDF9}</a:tableStyleId>
              </a:tblPr>
              <a:tblGrid>
                <a:gridCol w="917450"/>
                <a:gridCol w="3547525"/>
                <a:gridCol w="1083725"/>
                <a:gridCol w="855125"/>
                <a:gridCol w="3753725"/>
                <a:gridCol w="956725"/>
              </a:tblGrid>
              <a:tr h="255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Sr. No.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Topic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Page No.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Sr. No.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Topic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Page No.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RoadMap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</a:t>
                      </a:r>
                      <a:r>
                        <a:rPr b="1"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Conclusion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Introduction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</a:t>
                      </a:r>
                      <a:r>
                        <a:rPr b="1"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Future Scope of  Study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Objectives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</a:t>
                      </a:r>
                      <a:r>
                        <a:rPr b="1"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Bibliography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ER Diagram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Schema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7-</a:t>
                      </a:r>
                      <a:r>
                        <a:rPr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Relational Tables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SQL Queries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9-26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/>
          <p:nvPr/>
        </p:nvSpPr>
        <p:spPr>
          <a:xfrm>
            <a:off x="446049" y="2919820"/>
            <a:ext cx="2932771" cy="992459"/>
          </a:xfrm>
          <a:prstGeom prst="righ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F2DADA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7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3572108" y="2903092"/>
            <a:ext cx="2932771" cy="992459"/>
          </a:xfrm>
          <a:prstGeom prst="righ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F2DADA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6760426" y="2919820"/>
            <a:ext cx="2932771" cy="992459"/>
          </a:xfrm>
          <a:prstGeom prst="righ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F2DADA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 DIAGRAM</a:t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5642518" y="4804378"/>
            <a:ext cx="2854711" cy="992459"/>
          </a:xfrm>
          <a:prstGeom prst="lef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F2DADA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QUERIES</a:t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2635407" y="4804377"/>
            <a:ext cx="2854711" cy="992459"/>
          </a:xfrm>
          <a:prstGeom prst="lef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F2DADA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557098" y="4804377"/>
            <a:ext cx="1895707" cy="992459"/>
          </a:xfrm>
          <a:prstGeom prst="rect">
            <a:avLst/>
          </a:prstGeom>
          <a:solidFill>
            <a:srgbClr val="F2DADA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/>
          </a:p>
        </p:txBody>
      </p:sp>
      <p:sp>
        <p:nvSpPr>
          <p:cNvPr id="122" name="Google Shape;122;p7"/>
          <p:cNvSpPr txBox="1"/>
          <p:nvPr/>
        </p:nvSpPr>
        <p:spPr>
          <a:xfrm>
            <a:off x="2118631" y="1403249"/>
            <a:ext cx="7954738" cy="650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ROADMAP</a:t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9937593" y="2763703"/>
            <a:ext cx="2074127" cy="3033133"/>
          </a:xfrm>
          <a:prstGeom prst="rect">
            <a:avLst/>
          </a:prstGeom>
          <a:solidFill>
            <a:srgbClr val="F2DADA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TABLES</a:t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8744412" y="5044128"/>
            <a:ext cx="1193181" cy="512956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2DADA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/>
          <p:nvPr/>
        </p:nvSpPr>
        <p:spPr>
          <a:xfrm>
            <a:off x="2118631" y="1237552"/>
            <a:ext cx="7954738" cy="650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130" name="Google Shape;130;p8"/>
          <p:cNvSpPr txBox="1"/>
          <p:nvPr/>
        </p:nvSpPr>
        <p:spPr>
          <a:xfrm>
            <a:off x="259771" y="2216266"/>
            <a:ext cx="11672458" cy="3965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⮚"/>
            </a:pPr>
            <a:r>
              <a:rPr b="0" i="0" lang="en-IN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i="0" lang="en-IN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Management System (DBMS)</a:t>
            </a:r>
            <a:r>
              <a:rPr b="0" i="0" lang="en-IN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software that allows users to store, manage, and retrieve data efficiently. It ensures data integrity, security, and organized access.</a:t>
            </a:r>
            <a:endParaRPr/>
          </a:p>
          <a:p>
            <a:pPr indent="-285750" lvl="0" marL="285750" marR="0" rtl="0" algn="just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⮚"/>
            </a:pPr>
            <a:r>
              <a:rPr b="1" i="0" lang="en-IN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Flipkart</a:t>
            </a:r>
            <a:r>
              <a:rPr b="0" i="0" lang="en-IN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stands as a leading platform where </a:t>
            </a:r>
            <a:r>
              <a:rPr b="1" i="0" lang="en-IN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pricing</a:t>
            </a:r>
            <a:r>
              <a:rPr b="0" i="0" lang="en-IN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0" lang="en-IN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preferences</a:t>
            </a:r>
            <a:r>
              <a:rPr b="0" i="0" lang="en-IN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1" i="0" lang="en-IN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purchasing trends</a:t>
            </a:r>
            <a:r>
              <a:rPr b="0" i="0" lang="en-IN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constantly evolve. Analyzing these patterns is crucial for businesses to optimize pricing strategies, enhance customer satisfaction, and improve sales performance.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⮚"/>
            </a:pPr>
            <a:r>
              <a:rPr b="0" i="0" lang="en-IN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structuring data into relational tables and performing meaningful queries, we can extract valuable insights such as: </a:t>
            </a:r>
            <a:r>
              <a:rPr b="1" i="0" lang="en-IN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Pricing Trends, Customer Preferences , Seller Performance, Market Competitiveness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⮚"/>
            </a:pPr>
            <a:r>
              <a:rPr b="0" i="0" lang="en-IN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utilizing </a:t>
            </a:r>
            <a:r>
              <a:rPr b="1" i="0" lang="en-IN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SQL-based queries </a:t>
            </a:r>
            <a:r>
              <a:rPr b="0" i="0" lang="en-IN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1" i="0" lang="en-IN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analytics</a:t>
            </a:r>
            <a:r>
              <a:rPr b="0" i="0" lang="en-IN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this project provides a data-driven approach to enhancing e-commerce decision-making, enabling Flipkart and its stakeholders to </a:t>
            </a:r>
            <a:r>
              <a:rPr b="1" i="0" lang="en-IN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refine pricing strategies, improve user engagement, and drive business growth.</a:t>
            </a:r>
            <a:endParaRPr b="1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 txBox="1"/>
          <p:nvPr/>
        </p:nvSpPr>
        <p:spPr>
          <a:xfrm>
            <a:off x="3484876" y="1451631"/>
            <a:ext cx="5222240" cy="650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/>
          </a:p>
        </p:txBody>
      </p:sp>
      <p:sp>
        <p:nvSpPr>
          <p:cNvPr id="136" name="Google Shape;136;p9"/>
          <p:cNvSpPr txBox="1"/>
          <p:nvPr/>
        </p:nvSpPr>
        <p:spPr>
          <a:xfrm>
            <a:off x="478390" y="2395655"/>
            <a:ext cx="11235213" cy="4015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IN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To identify top customers and their spending patterns.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IN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To analyze order hotspots and monthly sales shifts.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IN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To find best-sellers, top-rated items, and common purchase quantities.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IN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To assess product availability and average order value.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IN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To track review activity and highest-rated products.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To detect missing payment details for accuracy.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IN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To evaluate price trends and category-wise pricing insights.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To ensure data completeness by identifying missing product images.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/>
        </p:nvSpPr>
        <p:spPr>
          <a:xfrm>
            <a:off x="5117105" y="617707"/>
            <a:ext cx="52221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 DIAGRAM</a:t>
            </a:r>
            <a:endParaRPr/>
          </a:p>
        </p:txBody>
      </p:sp>
      <p:pic>
        <p:nvPicPr>
          <p:cNvPr id="142" name="Google Shape;142;p10" title="E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0925" y="1268100"/>
            <a:ext cx="9630149" cy="5416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/>
          <p:nvPr/>
        </p:nvSpPr>
        <p:spPr>
          <a:xfrm>
            <a:off x="2726690" y="1385488"/>
            <a:ext cx="6738620" cy="650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b="1" i="0" lang="en-IN" sz="3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SCHEMA</a:t>
            </a:r>
            <a:endParaRPr/>
          </a:p>
        </p:txBody>
      </p:sp>
      <p:pic>
        <p:nvPicPr>
          <p:cNvPr id="148" name="Google Shape;148;p11"/>
          <p:cNvPicPr preferRelativeResize="0"/>
          <p:nvPr/>
        </p:nvPicPr>
        <p:blipFill rotWithShape="1">
          <a:blip r:embed="rId3">
            <a:alphaModFix/>
          </a:blip>
          <a:srcRect b="1556" l="2149" r="2259" t="1888"/>
          <a:stretch/>
        </p:blipFill>
        <p:spPr>
          <a:xfrm>
            <a:off x="345687" y="2408664"/>
            <a:ext cx="3178098" cy="325615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9" name="Google Shape;14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47903" y="2408664"/>
            <a:ext cx="3181794" cy="273405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0" name="Google Shape;15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7228" y="2387763"/>
            <a:ext cx="3496163" cy="327705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 txBox="1"/>
          <p:nvPr/>
        </p:nvSpPr>
        <p:spPr>
          <a:xfrm>
            <a:off x="2726690" y="1385488"/>
            <a:ext cx="6738620" cy="650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b="1" i="0" lang="en-IN" sz="3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SCHEMA</a:t>
            </a:r>
            <a:endParaRPr/>
          </a:p>
        </p:txBody>
      </p:sp>
      <p:pic>
        <p:nvPicPr>
          <p:cNvPr id="156" name="Google Shape;15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496" y="2252613"/>
            <a:ext cx="3762900" cy="32198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7" name="Google Shape;15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3338" y="2252613"/>
            <a:ext cx="3172268" cy="326753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8" name="Google Shape;15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2548" y="2252613"/>
            <a:ext cx="3486637" cy="269595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 txBox="1"/>
          <p:nvPr/>
        </p:nvSpPr>
        <p:spPr>
          <a:xfrm>
            <a:off x="2726690" y="1385488"/>
            <a:ext cx="6738620" cy="650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b="1" i="0" lang="en-IN" sz="3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SCHEMA</a:t>
            </a:r>
            <a:endParaRPr/>
          </a:p>
        </p:txBody>
      </p:sp>
      <p:pic>
        <p:nvPicPr>
          <p:cNvPr id="164" name="Google Shape;16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763" y="2274683"/>
            <a:ext cx="3419131" cy="254745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5" name="Google Shape;16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643" y="2274683"/>
            <a:ext cx="3223490" cy="300370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6" name="Google Shape;16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8882" y="2274683"/>
            <a:ext cx="3223490" cy="193156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"/>
          <p:cNvSpPr txBox="1"/>
          <p:nvPr/>
        </p:nvSpPr>
        <p:spPr>
          <a:xfrm>
            <a:off x="2533396" y="1251161"/>
            <a:ext cx="712520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TABLES</a:t>
            </a:r>
            <a:endParaRPr/>
          </a:p>
        </p:txBody>
      </p:sp>
      <p:pic>
        <p:nvPicPr>
          <p:cNvPr id="172" name="Google Shape;172;p14"/>
          <p:cNvPicPr preferRelativeResize="0"/>
          <p:nvPr/>
        </p:nvPicPr>
        <p:blipFill rotWithShape="1">
          <a:blip r:embed="rId3">
            <a:alphaModFix/>
          </a:blip>
          <a:srcRect b="2884" l="576" r="1260" t="2919"/>
          <a:stretch/>
        </p:blipFill>
        <p:spPr>
          <a:xfrm>
            <a:off x="2309708" y="3265684"/>
            <a:ext cx="7284720" cy="245872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3" name="Google Shape;173;p14"/>
          <p:cNvSpPr txBox="1"/>
          <p:nvPr/>
        </p:nvSpPr>
        <p:spPr>
          <a:xfrm>
            <a:off x="1234017" y="2406904"/>
            <a:ext cx="8928100" cy="410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14"/>
          <p:cNvSpPr txBox="1"/>
          <p:nvPr/>
        </p:nvSpPr>
        <p:spPr>
          <a:xfrm>
            <a:off x="491067" y="2127504"/>
            <a:ext cx="8928100" cy="895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CATEGORIES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* FROM CATEGORIES1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"/>
          <p:cNvSpPr txBox="1"/>
          <p:nvPr/>
        </p:nvSpPr>
        <p:spPr>
          <a:xfrm>
            <a:off x="2533396" y="1251161"/>
            <a:ext cx="712520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TABLES</a:t>
            </a:r>
            <a:endParaRPr/>
          </a:p>
        </p:txBody>
      </p:sp>
      <p:sp>
        <p:nvSpPr>
          <p:cNvPr id="180" name="Google Shape;180;p15"/>
          <p:cNvSpPr txBox="1"/>
          <p:nvPr/>
        </p:nvSpPr>
        <p:spPr>
          <a:xfrm>
            <a:off x="491067" y="2127504"/>
            <a:ext cx="8928100" cy="895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CUSTOMERS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* FROM CUSTOMERS1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1" name="Google Shape;181;p15"/>
          <p:cNvPicPr preferRelativeResize="0"/>
          <p:nvPr/>
        </p:nvPicPr>
        <p:blipFill rotWithShape="1">
          <a:blip r:embed="rId3">
            <a:alphaModFix/>
          </a:blip>
          <a:srcRect b="0" l="0" r="0" t="1915"/>
          <a:stretch/>
        </p:blipFill>
        <p:spPr>
          <a:xfrm>
            <a:off x="2057793" y="3086100"/>
            <a:ext cx="7697274" cy="32516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"/>
          <p:cNvSpPr txBox="1"/>
          <p:nvPr/>
        </p:nvSpPr>
        <p:spPr>
          <a:xfrm>
            <a:off x="2533396" y="1251161"/>
            <a:ext cx="712520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TABLES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1234017" y="2406904"/>
            <a:ext cx="8928100" cy="410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16"/>
          <p:cNvSpPr txBox="1"/>
          <p:nvPr/>
        </p:nvSpPr>
        <p:spPr>
          <a:xfrm>
            <a:off x="491067" y="2127504"/>
            <a:ext cx="8928100" cy="895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PRODUCT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* FROM PRODUCT1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9" name="Google Shape;18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5699" y="3097227"/>
            <a:ext cx="7382905" cy="325800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"/>
          <p:cNvSpPr txBox="1"/>
          <p:nvPr/>
        </p:nvSpPr>
        <p:spPr>
          <a:xfrm>
            <a:off x="2533396" y="1251161"/>
            <a:ext cx="712520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TABLES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1234017" y="2406904"/>
            <a:ext cx="8928100" cy="410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491067" y="2127504"/>
            <a:ext cx="8928100" cy="895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ORDER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* FROM ORDER1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7" name="Google Shape;19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4280" y="3097227"/>
            <a:ext cx="6039693" cy="337232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"/>
          <p:cNvSpPr txBox="1"/>
          <p:nvPr/>
        </p:nvSpPr>
        <p:spPr>
          <a:xfrm>
            <a:off x="2533396" y="1251161"/>
            <a:ext cx="712520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TABLES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1234017" y="2406904"/>
            <a:ext cx="8928100" cy="410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491067" y="2127504"/>
            <a:ext cx="8928100" cy="895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ORDER DETAIL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* FROM ORDER_DETAILS1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5" name="Google Shape;20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6417" y="3191057"/>
            <a:ext cx="7611537" cy="325800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"/>
          <p:cNvSpPr txBox="1"/>
          <p:nvPr/>
        </p:nvSpPr>
        <p:spPr>
          <a:xfrm>
            <a:off x="2533396" y="1251161"/>
            <a:ext cx="712520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TABLES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1234017" y="2406904"/>
            <a:ext cx="8928100" cy="410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491067" y="2127504"/>
            <a:ext cx="8928100" cy="895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PAYMENT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* FROM PAYMENTS1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3" name="Google Shape;21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3737" y="3097227"/>
            <a:ext cx="8278380" cy="324847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/>
        </p:nvSpPr>
        <p:spPr>
          <a:xfrm>
            <a:off x="2533396" y="1251161"/>
            <a:ext cx="712520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TABLES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1234017" y="2406904"/>
            <a:ext cx="8928100" cy="410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491067" y="2127504"/>
            <a:ext cx="8928100" cy="895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PRODUCT IMAGES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* FROM PRODUCT_IMAGES1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1" name="Google Shape;22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940" y="3097227"/>
            <a:ext cx="10174120" cy="325800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"/>
          <p:cNvSpPr txBox="1"/>
          <p:nvPr/>
        </p:nvSpPr>
        <p:spPr>
          <a:xfrm>
            <a:off x="2533396" y="1251161"/>
            <a:ext cx="712520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TABLES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1234017" y="2406904"/>
            <a:ext cx="8928100" cy="410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491067" y="2127504"/>
            <a:ext cx="8928100" cy="895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PRICING HISTORY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* FROM PRICING_HISTORY1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9" name="Google Shape;2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1425" y="3097227"/>
            <a:ext cx="5430008" cy="330563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"/>
          <p:cNvSpPr txBox="1"/>
          <p:nvPr/>
        </p:nvSpPr>
        <p:spPr>
          <a:xfrm>
            <a:off x="2533396" y="1251161"/>
            <a:ext cx="712520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TABLES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1234017" y="2406904"/>
            <a:ext cx="8928100" cy="410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491067" y="2127504"/>
            <a:ext cx="8928100" cy="895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 REVIEWS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* FROM REVIEWS1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7" name="Google Shape;23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941" y="3417230"/>
            <a:ext cx="10162117" cy="27289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"/>
          <p:cNvSpPr txBox="1"/>
          <p:nvPr/>
        </p:nvSpPr>
        <p:spPr>
          <a:xfrm>
            <a:off x="2118631" y="1304460"/>
            <a:ext cx="7954738" cy="650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 QUERIES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491067" y="2127503"/>
            <a:ext cx="8928100" cy="4475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5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City with the Highest Number of Orders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City, Order_Count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SELECT C.City, COUNT(O.Order_ID) AS Order_Count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FROM ORDER1 O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JOIN CUSTOMERS1 C ON O.Customer_ID = C.Customer_ID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GROUP BY C.City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ORDER BY Order_Count DESC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WHERE ROWNUM = 1;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4" name="Google Shape;244;p23"/>
          <p:cNvPicPr preferRelativeResize="0"/>
          <p:nvPr/>
        </p:nvPicPr>
        <p:blipFill rotWithShape="1">
          <a:blip r:embed="rId3">
            <a:alphaModFix/>
          </a:blip>
          <a:srcRect b="0" l="1178" r="0" t="4998"/>
          <a:stretch/>
        </p:blipFill>
        <p:spPr>
          <a:xfrm>
            <a:off x="2489689" y="5595565"/>
            <a:ext cx="2315861" cy="54300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/>
          <p:nvPr/>
        </p:nvSpPr>
        <p:spPr>
          <a:xfrm>
            <a:off x="2118631" y="1304460"/>
            <a:ext cx="7954738" cy="650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 QUERIES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491066" y="2127504"/>
            <a:ext cx="11541099" cy="2775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5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Most Frequently Purchased Quantity in Customer Orders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Quantity, Frequency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SELECT Quantity, COUNT(*) AS Frequency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FROM ORDER_DETAILS1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GROUP BY Quantity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ORDER BY Frequency DESC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WHERE ROWNUM = 1;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1" name="Google Shape;251;p24"/>
          <p:cNvPicPr preferRelativeResize="0"/>
          <p:nvPr/>
        </p:nvPicPr>
        <p:blipFill rotWithShape="1">
          <a:blip r:embed="rId3">
            <a:alphaModFix/>
          </a:blip>
          <a:srcRect b="4414" l="711" r="0" t="3931"/>
          <a:stretch/>
        </p:blipFill>
        <p:spPr>
          <a:xfrm>
            <a:off x="2118631" y="5282870"/>
            <a:ext cx="2534912" cy="54133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5"/>
          <p:cNvSpPr txBox="1"/>
          <p:nvPr/>
        </p:nvSpPr>
        <p:spPr>
          <a:xfrm>
            <a:off x="2118631" y="1304460"/>
            <a:ext cx="7954738" cy="650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 QUERIES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491067" y="2127504"/>
            <a:ext cx="8928100" cy="3426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5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Top 5 Best-Selling Products Based on Quantity Sold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5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INPUT:                                                                                                             OUTPUT: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Product_Name, Total_Sold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SELECT P.Product_Name, SUM(OD.Quantity) AS Total_Sold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FROM ORDER_DETAILS1 OD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JOIN PRODUCT1 P ON OD.Product_ID = P.Product_ID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GROUP BY P.Product_Name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ORDER BY Total_Sold DESC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WHERE ROWNUM &lt;= 5;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8" name="Google Shape;258;p25"/>
          <p:cNvPicPr preferRelativeResize="0"/>
          <p:nvPr/>
        </p:nvPicPr>
        <p:blipFill rotWithShape="1">
          <a:blip r:embed="rId3">
            <a:alphaModFix/>
          </a:blip>
          <a:srcRect b="1" l="2021" r="0" t="2359"/>
          <a:stretch/>
        </p:blipFill>
        <p:spPr>
          <a:xfrm>
            <a:off x="7656228" y="3429000"/>
            <a:ext cx="3164113" cy="162776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6"/>
          <p:cNvSpPr txBox="1"/>
          <p:nvPr/>
        </p:nvSpPr>
        <p:spPr>
          <a:xfrm>
            <a:off x="2118631" y="1304460"/>
            <a:ext cx="7954738" cy="650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 QUERIES</a:t>
            </a:r>
            <a:endParaRPr/>
          </a:p>
        </p:txBody>
      </p:sp>
      <p:sp>
        <p:nvSpPr>
          <p:cNvPr id="265" name="Google Shape;265;p26"/>
          <p:cNvSpPr txBox="1"/>
          <p:nvPr/>
        </p:nvSpPr>
        <p:spPr>
          <a:xfrm>
            <a:off x="491067" y="2127503"/>
            <a:ext cx="10828242" cy="4061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5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Total Number of Products Sold in the Last Month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5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SUM(OD.Quantity) AS Total_Products_Sold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ORDER_DETAILS1 OD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JOIN ORDER1 O ON OD.Order_ID = O.Order_ID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O.Order_Date &gt;= ADD_MONTHS(SYSDATE, -1);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 b="1" i="0" sz="25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6" name="Google Shape;266;p26"/>
          <p:cNvPicPr preferRelativeResize="0"/>
          <p:nvPr/>
        </p:nvPicPr>
        <p:blipFill rotWithShape="1">
          <a:blip r:embed="rId3">
            <a:alphaModFix/>
          </a:blip>
          <a:srcRect b="0" l="1029" r="0" t="7953"/>
          <a:stretch/>
        </p:blipFill>
        <p:spPr>
          <a:xfrm>
            <a:off x="2118631" y="4649478"/>
            <a:ext cx="2507922" cy="52612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7"/>
          <p:cNvSpPr txBox="1"/>
          <p:nvPr/>
        </p:nvSpPr>
        <p:spPr>
          <a:xfrm>
            <a:off x="2118631" y="1304460"/>
            <a:ext cx="7954738" cy="650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 QUERIES</a:t>
            </a:r>
            <a:endParaRPr/>
          </a:p>
        </p:txBody>
      </p:sp>
      <p:sp>
        <p:nvSpPr>
          <p:cNvPr id="272" name="Google Shape;272;p27"/>
          <p:cNvSpPr txBox="1"/>
          <p:nvPr/>
        </p:nvSpPr>
        <p:spPr>
          <a:xfrm>
            <a:off x="491067" y="2127504"/>
            <a:ext cx="10381372" cy="895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5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the Monthly Trend in Order Volume Over the Last Year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INPUT:                                                                                                 OUTPUT:</a:t>
            </a:r>
            <a:endParaRPr b="1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27"/>
          <p:cNvSpPr txBox="1"/>
          <p:nvPr/>
        </p:nvSpPr>
        <p:spPr>
          <a:xfrm>
            <a:off x="491068" y="3195269"/>
            <a:ext cx="615506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TO_CHAR(O.Order_Date, 'YYYY-MM') AS Month, COUNT(O.Order_ID) AS Order_Count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ORDER1 O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O.Order_Date &gt;= ADD_MONTHS(SYSDATE, -12)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BY TO_CHAR(O.Order_Date, 'YYYY-MM')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BY Month;</a:t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3">
            <a:alphaModFix/>
          </a:blip>
          <a:srcRect b="0" l="0" r="0" t="2432"/>
          <a:stretch/>
        </p:blipFill>
        <p:spPr>
          <a:xfrm>
            <a:off x="6841968" y="3195269"/>
            <a:ext cx="5020376" cy="326241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8"/>
          <p:cNvSpPr txBox="1"/>
          <p:nvPr/>
        </p:nvSpPr>
        <p:spPr>
          <a:xfrm>
            <a:off x="2118631" y="1304460"/>
            <a:ext cx="7954738" cy="650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 QUERIES</a:t>
            </a:r>
            <a:endParaRPr/>
          </a:p>
        </p:txBody>
      </p:sp>
      <p:sp>
        <p:nvSpPr>
          <p:cNvPr id="280" name="Google Shape;280;p28"/>
          <p:cNvSpPr txBox="1"/>
          <p:nvPr/>
        </p:nvSpPr>
        <p:spPr>
          <a:xfrm>
            <a:off x="491067" y="2127504"/>
            <a:ext cx="8928100" cy="4108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5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the Highest-Rated Product Based on Customer Reviews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5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INPUT:                                                                                                         OUTPUT: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Product_Name, Avg_Rating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SELECT P.Product_Name, AVG(R.Rating) AS Avg_Rating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FROM REVIEWS1 R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JOIN PRODUCT1 P ON R.Product_ID = P.Product_ID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GROUP BY P.Product_Name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ORDER BY Avg_Rating DESC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WHERE ROWNUM = 1;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1" name="Google Shape;281;p28"/>
          <p:cNvPicPr preferRelativeResize="0"/>
          <p:nvPr/>
        </p:nvPicPr>
        <p:blipFill rotWithShape="1">
          <a:blip r:embed="rId3">
            <a:alphaModFix/>
          </a:blip>
          <a:srcRect b="0" l="0" r="0" t="7934"/>
          <a:stretch/>
        </p:blipFill>
        <p:spPr>
          <a:xfrm>
            <a:off x="7394590" y="3315215"/>
            <a:ext cx="3124636" cy="49114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9"/>
          <p:cNvSpPr txBox="1"/>
          <p:nvPr/>
        </p:nvSpPr>
        <p:spPr>
          <a:xfrm>
            <a:off x="2118631" y="1304460"/>
            <a:ext cx="7954738" cy="650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 QUERIES</a:t>
            </a:r>
            <a:endParaRPr/>
          </a:p>
        </p:txBody>
      </p:sp>
      <p:sp>
        <p:nvSpPr>
          <p:cNvPr id="287" name="Google Shape;287;p29"/>
          <p:cNvSpPr txBox="1"/>
          <p:nvPr/>
        </p:nvSpPr>
        <p:spPr>
          <a:xfrm>
            <a:off x="491067" y="2127504"/>
            <a:ext cx="8928100" cy="895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5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Customers Who Have Submitted More Than 5 Reviews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5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Customer_Name, Review_Count FROM 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SELECT C.NAME AS Customer_Name, COUNT(R.REVIEW_ID) AS Review_Count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FROM CUSTOMERS1 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JOIN REVIEWS1 R ON C.CUSTOMER_ID = R.CUSTOMER_ID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GROUP BY C.NAME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ORDER BY Review_Count DESC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WHERE ROWNUM = 1;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8" name="Google Shape;288;p29"/>
          <p:cNvPicPr preferRelativeResize="0"/>
          <p:nvPr/>
        </p:nvPicPr>
        <p:blipFill rotWithShape="1">
          <a:blip r:embed="rId3">
            <a:alphaModFix/>
          </a:blip>
          <a:srcRect b="0" l="0" r="0" t="4664"/>
          <a:stretch/>
        </p:blipFill>
        <p:spPr>
          <a:xfrm>
            <a:off x="1831103" y="5429249"/>
            <a:ext cx="3600953" cy="5540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0"/>
          <p:cNvSpPr txBox="1"/>
          <p:nvPr/>
        </p:nvSpPr>
        <p:spPr>
          <a:xfrm>
            <a:off x="2118631" y="1304460"/>
            <a:ext cx="7954738" cy="650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 QUERIES</a:t>
            </a:r>
            <a:endParaRPr/>
          </a:p>
        </p:txBody>
      </p:sp>
      <p:sp>
        <p:nvSpPr>
          <p:cNvPr id="294" name="Google Shape;294;p30"/>
          <p:cNvSpPr txBox="1"/>
          <p:nvPr/>
        </p:nvSpPr>
        <p:spPr>
          <a:xfrm>
            <a:off x="491067" y="2127504"/>
            <a:ext cx="8928100" cy="42509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5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Orders That Lack Corresponding Payment Details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5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INPUT:                                                                                            OUTPUT: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O.Order_ID, O.Customer_ID, O.Order_Date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ORDER1 O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JOIN PAYMENTS1 P ON O.Order_ID = P.Order_ID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P.Payment_ID IS NULL;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5" name="Google Shape;295;p30"/>
          <p:cNvPicPr preferRelativeResize="0"/>
          <p:nvPr/>
        </p:nvPicPr>
        <p:blipFill rotWithShape="1">
          <a:blip r:embed="rId3">
            <a:alphaModFix/>
          </a:blip>
          <a:srcRect b="0" l="0" r="0" t="2084"/>
          <a:stretch/>
        </p:blipFill>
        <p:spPr>
          <a:xfrm>
            <a:off x="6623399" y="3252145"/>
            <a:ext cx="5077534" cy="330204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1"/>
          <p:cNvSpPr txBox="1"/>
          <p:nvPr/>
        </p:nvSpPr>
        <p:spPr>
          <a:xfrm>
            <a:off x="2118631" y="1304460"/>
            <a:ext cx="7954738" cy="650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301" name="Google Shape;301;p31"/>
          <p:cNvSpPr/>
          <p:nvPr/>
        </p:nvSpPr>
        <p:spPr>
          <a:xfrm>
            <a:off x="265770" y="2430477"/>
            <a:ext cx="11660459" cy="3785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of Flipkart's e-commerce data reveals key insights into </a:t>
            </a:r>
            <a:r>
              <a:rPr b="1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performance</a:t>
            </a: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preferences</a:t>
            </a: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1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pricing trends</a:t>
            </a: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Top-selling products and categories highlight key areas driving sales. 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reviews help identify the </a:t>
            </a:r>
            <a:r>
              <a:rPr b="1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and worst-rated products</a:t>
            </a: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Certain cities and customers contribute significantly to overall orders, indicating </a:t>
            </a:r>
            <a:r>
              <a:rPr b="1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regional demand. 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Pricing history showcases </a:t>
            </a:r>
            <a:r>
              <a:rPr b="1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trends and fluctuations</a:t>
            </a: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helping </a:t>
            </a:r>
            <a:r>
              <a:rPr b="1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 pricing strategies</a:t>
            </a: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preferred payment methods provide guidance on </a:t>
            </a:r>
            <a:r>
              <a:rPr b="1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enhancing transaction efficiency. 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Insights can help improve customer experience, </a:t>
            </a:r>
            <a:r>
              <a:rPr b="1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boost sales</a:t>
            </a: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1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refine pricing </a:t>
            </a: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better profitability.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5_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2013-10-09T13:08:33Z</dcterms:created>
  <dc:creator>Prashant Dhamale</dc:creator>
</cp:coreProperties>
</file>